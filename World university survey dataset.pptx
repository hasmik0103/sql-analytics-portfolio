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C78C1D-8CF2-4A7C-B19B-92B9446A45F9}">
  <a:tblStyle styleId="{60C78C1D-8CF2-4A7C-B19B-92B9446A45F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</a:t>
            </a:r>
            <a:r>
              <a:rPr lang="en-GB"/>
              <a:t>orld university survey dataset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b6b41d65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b6b41d65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b6b41d65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b6b41d65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b6b41d658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b6b41d658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b6b41d658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b6b41d658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b6b41d658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b6b41d658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b6b41d658_3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b6b41d658_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b6b41d658_3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b6b41d658_3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</a:t>
            </a:r>
            <a:r>
              <a:rPr lang="en-GB"/>
              <a:t>orld university survey dataset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bridge University (provided by Getty Images)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579" y="0"/>
            <a:ext cx="747084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629775" y="396225"/>
            <a:ext cx="6093000" cy="61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800">
                <a:solidFill>
                  <a:schemeClr val="dk1"/>
                </a:solidFill>
              </a:rPr>
              <a:t>World university survey dataset</a:t>
            </a:r>
            <a:endParaRPr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194375" y="171950"/>
            <a:ext cx="8889000" cy="22473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</a:t>
            </a:r>
            <a:r>
              <a:rPr lang="en-GB" sz="1000"/>
              <a:t>- GROUP BY AGE GROUP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SELECT									SELECT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  </a:t>
            </a:r>
            <a:r>
              <a:rPr lang="en-GB" sz="1000">
                <a:solidFill>
                  <a:schemeClr val="dk1"/>
                </a:solidFill>
              </a:rPr>
              <a:t>MIN(age),</a:t>
            </a:r>
            <a:r>
              <a:rPr lang="en-GB" sz="1000"/>
              <a:t>										CASE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  </a:t>
            </a:r>
            <a:r>
              <a:rPr lang="en-GB" sz="1000">
                <a:solidFill>
                  <a:schemeClr val="dk1"/>
                </a:solidFill>
              </a:rPr>
              <a:t>MAX(age)</a:t>
            </a:r>
            <a:r>
              <a:rPr lang="en-GB" sz="1000"/>
              <a:t> 									                 WHEN age &lt; 20 THEN 'Under 20'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</a:t>
            </a:r>
            <a:r>
              <a:rPr lang="en-GB" sz="1000">
                <a:solidFill>
                  <a:schemeClr val="dk1"/>
                </a:solidFill>
              </a:rPr>
              <a:t>FROM analytics._stg_world_university_survey;</a:t>
            </a:r>
            <a:r>
              <a:rPr lang="en-GB" sz="1000"/>
              <a:t>                                                                      WHEN age BETWEEN 20 AND 24 THEN '20-24'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                                                                                                                                                 WHEN age BETWEEN 25 AND 29 THEN '25-29'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                                                                                                                                                 ELSE '30+'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                                                                                                                                            END AS age_group,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                                                                                                                                            COUNT(*) AS total_students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                                                                                                                                 FROM analytics._stg_world_university_survey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                                                                                                                                 GROUP BY age_group;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	</a:t>
            </a:r>
            <a:endParaRPr sz="1000"/>
          </a:p>
        </p:txBody>
      </p:sp>
      <p:graphicFrame>
        <p:nvGraphicFramePr>
          <p:cNvPr id="63" name="Google Shape;63;p14"/>
          <p:cNvGraphicFramePr/>
          <p:nvPr/>
        </p:nvGraphicFramePr>
        <p:xfrm>
          <a:off x="421525" y="275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{60C78C1D-8CF2-4A7C-B19B-92B9446A45F9}</a:tableStyleId>
              </a:tblPr>
              <a:tblGrid>
                <a:gridCol w="979000"/>
                <a:gridCol w="1226550"/>
              </a:tblGrid>
              <a:tr h="68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61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</a:t>
                      </a:r>
                      <a:endParaRPr sz="1100">
                        <a:solidFill>
                          <a:srgbClr val="0061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61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</a:t>
                      </a:r>
                      <a:r>
                        <a:rPr lang="en-GB" sz="1100">
                          <a:solidFill>
                            <a:srgbClr val="0061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solidFill>
                          <a:srgbClr val="0061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</a:tr>
              <a:tr h="725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Google Shape;64;p14"/>
          <p:cNvGraphicFramePr/>
          <p:nvPr/>
        </p:nvGraphicFramePr>
        <p:xfrm>
          <a:off x="5430500" y="272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{60C78C1D-8CF2-4A7C-B19B-92B9446A45F9}</a:tableStyleId>
              </a:tblPr>
              <a:tblGrid>
                <a:gridCol w="1706125"/>
                <a:gridCol w="1348775"/>
              </a:tblGrid>
              <a:tr h="39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61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age_group</a:t>
                      </a:r>
                      <a:endParaRPr sz="1100">
                        <a:solidFill>
                          <a:srgbClr val="0061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61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total_students</a:t>
                      </a:r>
                      <a:endParaRPr sz="1100">
                        <a:solidFill>
                          <a:srgbClr val="0061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</a:tr>
              <a:tr h="4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25-29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30+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20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20-24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Google Shape;65;p14"/>
          <p:cNvSpPr txBox="1"/>
          <p:nvPr/>
        </p:nvSpPr>
        <p:spPr>
          <a:xfrm>
            <a:off x="4996850" y="2556175"/>
            <a:ext cx="39894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 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 	 		 		 </a:t>
            </a:r>
            <a:endParaRPr/>
          </a:p>
        </p:txBody>
      </p:sp>
      <p:pic>
        <p:nvPicPr>
          <p:cNvPr descr="a man in a graduation cap and gown is holding a diploma (provided by Tenor)"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075" y="3371675"/>
            <a:ext cx="1749375" cy="16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74750"/>
            <a:ext cx="8520600" cy="10542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/>
              <a:t>-- GROUP BY FIELD OF STUDY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/>
              <a:t>SELECT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/>
              <a:t>  field_of_study,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/>
              <a:t>  COUNT(*) AS total_students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/>
              <a:t>FROM analytics._stg_world_university_survey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/>
              <a:t>GROUP BY field_of_study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/>
              <a:t>ORDER BY total_students DESC;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502675"/>
            <a:ext cx="8520600" cy="30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429025" y="116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{60C78C1D-8CF2-4A7C-B19B-92B9446A45F9}</a:tableStyleId>
              </a:tblPr>
              <a:tblGrid>
                <a:gridCol w="4885625"/>
                <a:gridCol w="3517650"/>
              </a:tblGrid>
              <a:tr h="33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field_of_study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A2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total_students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A2C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 Science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Social Sciences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Physics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Medicine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Science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Law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Engineering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4" name="Google Shape;74;p15"/>
          <p:cNvSpPr txBox="1"/>
          <p:nvPr/>
        </p:nvSpPr>
        <p:spPr>
          <a:xfrm>
            <a:off x="429025" y="1169150"/>
            <a:ext cx="8520600" cy="3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	 		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			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	 	 		 		 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52325"/>
            <a:ext cx="8520600" cy="11589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-- GROUP BY PROGRAM LEVEL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SELECT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progtam_level,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COUNT(*) AS total_students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FROM analytics._stg_world_university_survey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GROUP BY progtam_level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ORDER BY total_students DESC;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85875"/>
            <a:ext cx="8520600" cy="32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311700" y="128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{60C78C1D-8CF2-4A7C-B19B-92B9446A45F9}</a:tableStyleId>
              </a:tblPr>
              <a:tblGrid>
                <a:gridCol w="4546475"/>
                <a:gridCol w="3974125"/>
              </a:tblGrid>
              <a:tr h="65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progtam_level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8D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total_students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8DD4"/>
                    </a:solidFill>
                  </a:tcPr>
                </a:tc>
              </a:tr>
              <a:tr h="69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Master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Bachelor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2" name="Google Shape;82;p16"/>
          <p:cNvSpPr txBox="1"/>
          <p:nvPr/>
        </p:nvSpPr>
        <p:spPr>
          <a:xfrm>
            <a:off x="311700" y="1475625"/>
            <a:ext cx="3000000" cy="23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 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 	 		 		 </a:t>
            </a:r>
            <a:endParaRPr/>
          </a:p>
        </p:txBody>
      </p:sp>
      <p:pic>
        <p:nvPicPr>
          <p:cNvPr descr="an illustration of a woman wearing a graduation cap and gown holding a diploma (provided by Tenor)"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3725" y="3966725"/>
            <a:ext cx="1727500" cy="111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86175"/>
            <a:ext cx="8520600" cy="10128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-- GROUP BY ONLINE/OFFLINE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SELECT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online_classes,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  COUNT(*) AS total_students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FROM analytics._stg_world_university_survey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/>
              <a:t>GROUP BY online_classes;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p17"/>
          <p:cNvGraphicFramePr/>
          <p:nvPr/>
        </p:nvGraphicFramePr>
        <p:xfrm>
          <a:off x="369200" y="128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{60C78C1D-8CF2-4A7C-B19B-92B9446A45F9}</a:tableStyleId>
              </a:tblPr>
              <a:tblGrid>
                <a:gridCol w="4284675"/>
                <a:gridCol w="4178425"/>
              </a:tblGrid>
              <a:tr h="62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online_classes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total_students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506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Google Shape;91;p17"/>
          <p:cNvSpPr txBox="1"/>
          <p:nvPr/>
        </p:nvSpPr>
        <p:spPr>
          <a:xfrm>
            <a:off x="350550" y="1152475"/>
            <a:ext cx="844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 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 	 		 		 </a:t>
            </a:r>
            <a:endParaRPr/>
          </a:p>
        </p:txBody>
      </p:sp>
      <p:pic>
        <p:nvPicPr>
          <p:cNvPr descr="a bird with a backpack is carrying a stack of books with the words first day written above it (provided by Tenor)"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375" y="3289450"/>
            <a:ext cx="2354950" cy="18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59800"/>
            <a:ext cx="8520600" cy="13608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-- GROUP BY country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SELECT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  country,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  COUNT(*) AS total_students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FROM analytics._stg_world_university_survey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GROUP BY country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/>
              <a:t>ORDER BY country DESC;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487725"/>
            <a:ext cx="85206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back to school t-shirt with four cats on it (provided by Tenor)"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1475" y="3692275"/>
            <a:ext cx="3060824" cy="1406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18"/>
          <p:cNvGraphicFramePr/>
          <p:nvPr/>
        </p:nvGraphicFramePr>
        <p:xfrm>
          <a:off x="361725" y="134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{60C78C1D-8CF2-4A7C-B19B-92B9446A45F9}</a:tableStyleId>
              </a:tblPr>
              <a:tblGrid>
                <a:gridCol w="4517625"/>
                <a:gridCol w="3952950"/>
              </a:tblGrid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97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total_students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97D1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Turkey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China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France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Pakistan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Netherlands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Malaysia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Australia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Germany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Japan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Canada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p18"/>
          <p:cNvSpPr txBox="1"/>
          <p:nvPr/>
        </p:nvSpPr>
        <p:spPr>
          <a:xfrm>
            <a:off x="304800" y="1420600"/>
            <a:ext cx="8527500" cy="28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 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 	 		 		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0"/>
            <a:ext cx="8520600" cy="1278300"/>
          </a:xfrm>
          <a:prstGeom prst="rect">
            <a:avLst/>
          </a:prstGeom>
          <a:solidFill>
            <a:srgbClr val="EB4C7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412"/>
              <a:buFont typeface="Arial"/>
              <a:buNone/>
            </a:pPr>
            <a:r>
              <a:rPr lang="en-GB" sz="850"/>
              <a:t>SELECT 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412"/>
              <a:buFont typeface="Arial"/>
              <a:buNone/>
            </a:pPr>
            <a:r>
              <a:rPr lang="en-GB" sz="850"/>
              <a:t>    online_classes,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412"/>
              <a:buFont typeface="Arial"/>
              <a:buNone/>
            </a:pPr>
            <a:r>
              <a:rPr lang="en-GB" sz="850"/>
              <a:t>    overall_satisfaction,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412"/>
              <a:buFont typeface="Arial"/>
              <a:buNone/>
            </a:pPr>
            <a:r>
              <a:rPr lang="en-GB" sz="850"/>
              <a:t>    COUNT(*) AS total_students,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412"/>
              <a:buFont typeface="Arial"/>
              <a:buNone/>
            </a:pPr>
            <a:r>
              <a:rPr lang="en-GB" sz="850"/>
              <a:t>    ROUND(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412"/>
              <a:buFont typeface="Arial"/>
              <a:buNone/>
            </a:pPr>
            <a:r>
              <a:rPr lang="en-GB" sz="850"/>
              <a:t>        COUNT(*) * 100.0 / SUM(COUNT(*)) OVER (PARTITION BY online_classes),2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412"/>
              <a:buFont typeface="Arial"/>
              <a:buNone/>
            </a:pPr>
            <a:r>
              <a:rPr lang="en-GB" sz="850"/>
              <a:t>    ) AS percentage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412"/>
              <a:buFont typeface="Arial"/>
              <a:buNone/>
            </a:pPr>
            <a:r>
              <a:rPr lang="en-GB" sz="850"/>
              <a:t>FROM analytics._stg_world_university_survey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412"/>
              <a:buFont typeface="Arial"/>
              <a:buNone/>
            </a:pPr>
            <a:r>
              <a:rPr lang="en-GB" sz="850"/>
              <a:t>GROUP BY online_classes, overall_satisfaction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412"/>
              <a:buFont typeface="Arial"/>
              <a:buNone/>
            </a:pPr>
            <a:r>
              <a:rPr lang="en-GB" sz="850"/>
              <a:t>ORDER BY online_classes, percentage DESC;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278300"/>
            <a:ext cx="8520600" cy="3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8" name="Google Shape;108;p19"/>
          <p:cNvGraphicFramePr/>
          <p:nvPr/>
        </p:nvGraphicFramePr>
        <p:xfrm>
          <a:off x="311700" y="127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{60C78C1D-8CF2-4A7C-B19B-92B9446A45F9}</a:tableStyleId>
              </a:tblPr>
              <a:tblGrid>
                <a:gridCol w="2130150"/>
                <a:gridCol w="2130150"/>
                <a:gridCol w="2130150"/>
                <a:gridCol w="2130150"/>
              </a:tblGrid>
              <a:tr h="32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online_classes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4C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overall_satisfaction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4C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total_students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4C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percentage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190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4C79"/>
                    </a:solidFill>
                  </a:tcPr>
                </a:tc>
              </a:tr>
              <a:tr h="34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Dissatisfied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21.74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Satisfied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21.74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Satisfied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20.55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Neutral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18.77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Dissatisfied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17.19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Dissatisfied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23.68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4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Satisfied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22.47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Satisfied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19.84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Neutral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17.21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Dissatisfied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38100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19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 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 	 		 		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207025" y="644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group of penguins are standing next to each other with the words graduated behind them (provided by Tenor)"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0025"/>
            <a:ext cx="8520599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